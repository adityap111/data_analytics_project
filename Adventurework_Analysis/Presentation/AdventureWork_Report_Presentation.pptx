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6" r:id="rId8"/>
    <p:sldId id="267" r:id="rId9"/>
    <p:sldId id="268" r:id="rId10"/>
    <p:sldId id="263" r:id="rId11"/>
    <p:sldId id="276" r:id="rId12"/>
    <p:sldId id="271" r:id="rId13"/>
    <p:sldId id="274" r:id="rId14"/>
    <p:sldId id="264" r:id="rId15"/>
    <p:sldId id="277" r:id="rId16"/>
    <p:sldId id="272" r:id="rId17"/>
    <p:sldId id="275" r:id="rId18"/>
    <p:sldId id="269" r:id="rId19"/>
    <p:sldId id="278" r:id="rId20"/>
    <p:sldId id="279" r:id="rId21"/>
    <p:sldId id="270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74" d="100"/>
          <a:sy n="74" d="100"/>
        </p:scale>
        <p:origin x="9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21AA7-576A-478B-AB7F-2BCBE01B8A4A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0EA6243-5B5E-4E58-BC5D-6DABAC1CF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2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21AA7-576A-478B-AB7F-2BCBE01B8A4A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A6243-5B5E-4E58-BC5D-6DABAC1CF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40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21AA7-576A-478B-AB7F-2BCBE01B8A4A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0EA6243-5B5E-4E58-BC5D-6DABAC1CF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621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21AA7-576A-478B-AB7F-2BCBE01B8A4A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A6243-5B5E-4E58-BC5D-6DABAC1CF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271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21AA7-576A-478B-AB7F-2BCBE01B8A4A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A6243-5B5E-4E58-BC5D-6DABAC1CF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480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21AA7-576A-478B-AB7F-2BCBE01B8A4A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A6243-5B5E-4E58-BC5D-6DABAC1CF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341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21AA7-576A-478B-AB7F-2BCBE01B8A4A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A6243-5B5E-4E58-BC5D-6DABAC1CF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683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21AA7-576A-478B-AB7F-2BCBE01B8A4A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A6243-5B5E-4E58-BC5D-6DABAC1CF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41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21AA7-576A-478B-AB7F-2BCBE01B8A4A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A6243-5B5E-4E58-BC5D-6DABAC1CF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139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21AA7-576A-478B-AB7F-2BCBE01B8A4A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0EA6243-5B5E-4E58-BC5D-6DABAC1CF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05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21AA7-576A-478B-AB7F-2BCBE01B8A4A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0EA6243-5B5E-4E58-BC5D-6DABAC1CF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94113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21AA7-576A-478B-AB7F-2BCBE01B8A4A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0EA6243-5B5E-4E58-BC5D-6DABAC1CF3DC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672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21AA7-576A-478B-AB7F-2BCBE01B8A4A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0EA6243-5B5E-4E58-BC5D-6DABAC1CF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3929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21AA7-576A-478B-AB7F-2BCBE01B8A4A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A6243-5B5E-4E58-BC5D-6DABAC1CF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29607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21AA7-576A-478B-AB7F-2BCBE01B8A4A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A6243-5B5E-4E58-BC5D-6DABAC1CF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6771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21AA7-576A-478B-AB7F-2BCBE01B8A4A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A6243-5B5E-4E58-BC5D-6DABAC1CF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1731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3FF21AA7-576A-478B-AB7F-2BCBE01B8A4A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0EA6243-5B5E-4E58-BC5D-6DABAC1CF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38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F21AA7-576A-478B-AB7F-2BCBE01B8A4A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A6243-5B5E-4E58-BC5D-6DABAC1CF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2801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00C89-EA4C-E583-1AF2-83408BE324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181586"/>
          </a:xfrm>
        </p:spPr>
        <p:txBody>
          <a:bodyPr/>
          <a:lstStyle/>
          <a:p>
            <a:pPr algn="ctr"/>
            <a:r>
              <a:rPr lang="en-IN" b="1" dirty="0"/>
              <a:t>Adventure 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748A08-0980-5DBB-3559-5BD8735497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322" y="4563686"/>
            <a:ext cx="8264174" cy="1953491"/>
          </a:xfrm>
        </p:spPr>
        <p:txBody>
          <a:bodyPr>
            <a:normAutofit/>
          </a:bodyPr>
          <a:lstStyle/>
          <a:p>
            <a:pPr algn="l"/>
            <a:r>
              <a:rPr lang="en-IN" b="1" dirty="0"/>
              <a:t>Members Name</a:t>
            </a:r>
            <a:r>
              <a:rPr lang="en-IN" dirty="0"/>
              <a:t>:</a:t>
            </a:r>
          </a:p>
          <a:p>
            <a:pPr algn="l"/>
            <a:r>
              <a:rPr lang="en-IN" dirty="0"/>
              <a:t>		    Makrand | Aditya | Bhawna | Varsha</a:t>
            </a:r>
          </a:p>
          <a:p>
            <a:pPr algn="l"/>
            <a:r>
              <a:rPr lang="en-IN" dirty="0"/>
              <a:t>		    Swathi | Manav | Prasanth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171C7F-AF48-3FD2-741F-EB0654F4FC81}"/>
              </a:ext>
            </a:extLst>
          </p:cNvPr>
          <p:cNvSpPr txBox="1"/>
          <p:nvPr/>
        </p:nvSpPr>
        <p:spPr>
          <a:xfrm>
            <a:off x="10341031" y="4563686"/>
            <a:ext cx="16126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Tools Used: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Excel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Power BI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Tableau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SQL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0F9DBA-95BC-1D59-7707-48A4145D064D}"/>
              </a:ext>
            </a:extLst>
          </p:cNvPr>
          <p:cNvSpPr txBox="1"/>
          <p:nvPr/>
        </p:nvSpPr>
        <p:spPr>
          <a:xfrm>
            <a:off x="9438968" y="3105834"/>
            <a:ext cx="2514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b="1" dirty="0"/>
              <a:t>Group No. 3</a:t>
            </a:r>
          </a:p>
        </p:txBody>
      </p:sp>
    </p:spTree>
    <p:extLst>
      <p:ext uri="{BB962C8B-B14F-4D97-AF65-F5344CB8AC3E}">
        <p14:creationId xmlns:p14="http://schemas.microsoft.com/office/powerpoint/2010/main" val="3400857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D194C-7F7F-9E27-7103-36881C6A3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About the Company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59F17-4A6F-2254-FB37-E3AFB1954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7067141" cy="359931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Adventure Works Cycles is a multinational company that manufactures and sells bicycles across North America, Europe, and Asia.</a:t>
            </a:r>
          </a:p>
          <a:p>
            <a:endParaRPr lang="en-US" sz="1000" dirty="0"/>
          </a:p>
          <a:p>
            <a:r>
              <a:rPr lang="en-US" dirty="0"/>
              <a:t>The company operates a key manufacturing plant in Mexico that produces essential components for its bicycle product line.</a:t>
            </a:r>
          </a:p>
          <a:p>
            <a:pPr marL="0" indent="0">
              <a:buNone/>
            </a:pPr>
            <a:endParaRPr lang="en-US" sz="1000" dirty="0"/>
          </a:p>
          <a:p>
            <a:r>
              <a:rPr lang="en-US" dirty="0"/>
              <a:t>Adventure Works aims to expand market share by targeting valuable customers and improving operational efficiency.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714904-45BE-C990-5FC5-DB5B93482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2973" y="2395459"/>
            <a:ext cx="3491347" cy="3599316"/>
          </a:xfrm>
          <a:prstGeom prst="rect">
            <a:avLst/>
          </a:prstGeom>
          <a:noFill/>
          <a:effectLst>
            <a:glow rad="127000">
              <a:schemeClr val="accent1">
                <a:alpha val="70000"/>
              </a:schemeClr>
            </a:glow>
            <a:outerShdw blurRad="50800" dist="50800" dir="5400000" algn="ctr" rotWithShape="0">
              <a:srgbClr val="000000"/>
            </a:outerShdw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724596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181CB-D1D8-9350-7C2D-085237EB4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Business Problem &amp; 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42876-412D-E80E-C939-F92F3FDC7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109" y="2448233"/>
            <a:ext cx="4422621" cy="332330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Adventure Works wanted to:</a:t>
            </a:r>
          </a:p>
          <a:p>
            <a:r>
              <a:rPr lang="en-US" dirty="0"/>
              <a:t>Identify high value customers</a:t>
            </a:r>
          </a:p>
          <a:p>
            <a:r>
              <a:rPr lang="en-US" dirty="0"/>
              <a:t>Improve sales performance</a:t>
            </a:r>
          </a:p>
          <a:p>
            <a:r>
              <a:rPr lang="en-US" dirty="0"/>
              <a:t>Optimize inventory</a:t>
            </a:r>
          </a:p>
          <a:p>
            <a:r>
              <a:rPr lang="en-US" dirty="0"/>
              <a:t>Reduce operational costs</a:t>
            </a:r>
          </a:p>
          <a:p>
            <a:r>
              <a:rPr lang="en-US" dirty="0"/>
              <a:t>Expand online presence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39DAF6-C460-084D-60A6-09F74B2C379C}"/>
              </a:ext>
            </a:extLst>
          </p:cNvPr>
          <p:cNvSpPr txBox="1"/>
          <p:nvPr/>
        </p:nvSpPr>
        <p:spPr>
          <a:xfrm>
            <a:off x="6617113" y="2356537"/>
            <a:ext cx="3657600" cy="2794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Key Focus Areas: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Sales Performance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Customer Behavior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Product Analysis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Operational Efficiency</a:t>
            </a:r>
          </a:p>
        </p:txBody>
      </p:sp>
    </p:spTree>
    <p:extLst>
      <p:ext uri="{BB962C8B-B14F-4D97-AF65-F5344CB8AC3E}">
        <p14:creationId xmlns:p14="http://schemas.microsoft.com/office/powerpoint/2010/main" val="955634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83BA5-1235-14D0-2413-CA9D0D125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Technical Skills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11EE2B2-6227-5645-6D4E-859C05D568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6471247"/>
              </p:ext>
            </p:extLst>
          </p:nvPr>
        </p:nvGraphicFramePr>
        <p:xfrm>
          <a:off x="680319" y="2336801"/>
          <a:ext cx="10695603" cy="3719244"/>
        </p:xfrm>
        <a:graphic>
          <a:graphicData uri="http://schemas.openxmlformats.org/drawingml/2006/table">
            <a:tbl>
              <a:tblPr/>
              <a:tblGrid>
                <a:gridCol w="1959764">
                  <a:extLst>
                    <a:ext uri="{9D8B030D-6E8A-4147-A177-3AD203B41FA5}">
                      <a16:colId xmlns:a16="http://schemas.microsoft.com/office/drawing/2014/main" val="2503232578"/>
                    </a:ext>
                  </a:extLst>
                </a:gridCol>
                <a:gridCol w="8735839">
                  <a:extLst>
                    <a:ext uri="{9D8B030D-6E8A-4147-A177-3AD203B41FA5}">
                      <a16:colId xmlns:a16="http://schemas.microsoft.com/office/drawing/2014/main" val="1853530973"/>
                    </a:ext>
                  </a:extLst>
                </a:gridCol>
              </a:tblGrid>
              <a:tr h="3271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/>
                        <a:t>Tool</a:t>
                      </a:r>
                    </a:p>
                  </a:txBody>
                  <a:tcPr marL="81792" marR="81792" marT="40896" marB="408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Skills Used</a:t>
                      </a:r>
                    </a:p>
                  </a:txBody>
                  <a:tcPr marL="81792" marR="81792" marT="40896" marB="408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145549"/>
                  </a:ext>
                </a:extLst>
              </a:tr>
              <a:tr h="817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Excel</a:t>
                      </a:r>
                      <a:endParaRPr lang="en-IN" sz="2000" dirty="0"/>
                    </a:p>
                  </a:txBody>
                  <a:tcPr marL="81792" marR="81792" marT="40896" marB="408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Data Cleaning, Relationship, Data Transformation, Pivot Tables, Lookup Functions (VLOOKUP/XLOOKUP), Charts, Initial Data Analysis</a:t>
                      </a:r>
                    </a:p>
                  </a:txBody>
                  <a:tcPr marL="81792" marR="81792" marT="40896" marB="408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1620503"/>
                  </a:ext>
                </a:extLst>
              </a:tr>
              <a:tr h="817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Power BI</a:t>
                      </a:r>
                      <a:endParaRPr lang="en-IN" sz="2000" dirty="0"/>
                    </a:p>
                  </a:txBody>
                  <a:tcPr marL="81792" marR="81792" marT="40896" marB="408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Data Modeling, DAX Measures, KPI Dashboards, Interactive Visualizations, Trend Analysis, Customer Segmentation, Sales Analysis, Business Reporting</a:t>
                      </a:r>
                    </a:p>
                  </a:txBody>
                  <a:tcPr marL="81792" marR="81792" marT="40896" marB="408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570013"/>
                  </a:ext>
                </a:extLst>
              </a:tr>
              <a:tr h="817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Tableau</a:t>
                      </a:r>
                      <a:endParaRPr lang="en-IN" sz="2000" dirty="0"/>
                    </a:p>
                  </a:txBody>
                  <a:tcPr marL="81792" marR="81792" marT="40896" marB="408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Data Visualization, Dashboard Design, , Trend Analysis, Customer Segmentation, Sales Analysis, Storytelling with Data</a:t>
                      </a:r>
                    </a:p>
                  </a:txBody>
                  <a:tcPr marL="81792" marR="81792" marT="40896" marB="408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647252"/>
                  </a:ext>
                </a:extLst>
              </a:tr>
              <a:tr h="817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SQL</a:t>
                      </a:r>
                      <a:endParaRPr lang="en-IN" sz="2000" dirty="0"/>
                    </a:p>
                  </a:txBody>
                  <a:tcPr marL="81792" marR="81792" marT="40896" marB="408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Data Extraction, Joins, Aggregations, Filtering, Subqueries, Data Querying, KPI Calculation</a:t>
                      </a:r>
                    </a:p>
                  </a:txBody>
                  <a:tcPr marL="81792" marR="81792" marT="40896" marB="408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33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0043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2896F-23CF-7A84-963F-1CF46E771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Team Collaboration, Communication, </a:t>
            </a:r>
            <a:br>
              <a:rPr lang="en-US" b="1" dirty="0"/>
            </a:br>
            <a:r>
              <a:rPr lang="en-US" b="1" dirty="0"/>
              <a:t>Key Learnings, Planning &amp; Execution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215EB-64F7-DC97-7E58-BBE20098E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10154827" cy="359931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Distributed tasks equally among all 7 members based on tools and responsibilities.</a:t>
            </a:r>
          </a:p>
          <a:p>
            <a:pPr>
              <a:lnSpc>
                <a:spcPct val="100000"/>
              </a:lnSpc>
            </a:pPr>
            <a:r>
              <a:rPr lang="en-US" dirty="0"/>
              <a:t>Maintained regular communication for smooth coordination and progress tracking.</a:t>
            </a:r>
          </a:p>
          <a:p>
            <a:pPr>
              <a:lnSpc>
                <a:spcPct val="100000"/>
              </a:lnSpc>
            </a:pPr>
            <a:r>
              <a:rPr lang="en-US" dirty="0"/>
              <a:t>Collaborated to solve data challenges and align insights across Excel, Power BI, Tableau and SQL.</a:t>
            </a:r>
          </a:p>
          <a:p>
            <a:pPr>
              <a:lnSpc>
                <a:spcPct val="100000"/>
              </a:lnSpc>
            </a:pPr>
            <a:r>
              <a:rPr lang="en-US" dirty="0"/>
              <a:t>Learned the importance of teamwork in executing and integrating the project successfully.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5729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7C25E-3BF7-2FAF-E7A1-9BF5EAE07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Sales Performance Analysis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3FC21-C803-4C5A-BA0C-180AFA74A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7096995" cy="3599316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Overall performance shows ₹29.36M in total sales with a strong profit margin of 41.15%.</a:t>
            </a:r>
          </a:p>
          <a:p>
            <a:pPr>
              <a:lnSpc>
                <a:spcPct val="150000"/>
              </a:lnSpc>
            </a:pPr>
            <a:r>
              <a:rPr lang="en-US" dirty="0"/>
              <a:t>North America and Australia are the top contributing regions driving major sales revenue.</a:t>
            </a:r>
          </a:p>
          <a:p>
            <a:pPr>
              <a:lnSpc>
                <a:spcPct val="150000"/>
              </a:lnSpc>
            </a:pPr>
            <a:r>
              <a:rPr lang="en-US" dirty="0"/>
              <a:t>Monthly trends show steady increase in both sales and profit margin.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54AB24-3BCB-E66E-DD09-7DF8D2CA23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2619" y="2532971"/>
            <a:ext cx="3540895" cy="3403217"/>
          </a:xfrm>
          <a:prstGeom prst="rect">
            <a:avLst/>
          </a:prstGeom>
          <a:effectLst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1995899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B36B4-1B23-E515-8C6D-39247F3F7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Excel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D25212-8A8F-1322-268C-A086438767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122" y="2060889"/>
            <a:ext cx="11981467" cy="471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964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A21AF-5D4A-5415-8504-FD3DC3AC6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Power BI Dashboard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BC8950-782B-C1CA-529F-223D30E69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3AA72D-F7EE-23F0-F8A2-781573B61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90" y="2026227"/>
            <a:ext cx="11970328" cy="4759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783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4A600-8088-CC52-C8E1-F8129DF43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Tableau Dashboard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CD2EF32-60BC-F66B-6AC0-4BE63F4C42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5" y="2064470"/>
            <a:ext cx="11953188" cy="4637988"/>
          </a:xfrm>
        </p:spPr>
      </p:pic>
    </p:spTree>
    <p:extLst>
      <p:ext uri="{BB962C8B-B14F-4D97-AF65-F5344CB8AC3E}">
        <p14:creationId xmlns:p14="http://schemas.microsoft.com/office/powerpoint/2010/main" val="3685491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66644-2F28-C301-4A50-C19AA4C1B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Customer Behaviour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29D9F-B8D8-2AFE-0A4D-16A611589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2366369"/>
            <a:ext cx="6902245" cy="359931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Customer base consists of 18K total customers with balanced gender distribution.</a:t>
            </a:r>
          </a:p>
          <a:p>
            <a:pPr>
              <a:lnSpc>
                <a:spcPct val="150000"/>
              </a:lnSpc>
            </a:pPr>
            <a:r>
              <a:rPr lang="en-US" dirty="0"/>
              <a:t>Adult customers generate the highest sales across all income levels.</a:t>
            </a:r>
          </a:p>
          <a:p>
            <a:pPr>
              <a:lnSpc>
                <a:spcPct val="150000"/>
              </a:lnSpc>
            </a:pPr>
            <a:r>
              <a:rPr lang="en-US" dirty="0"/>
              <a:t>High repeat purchase rate (86.5%) indicates strong customer loyalty.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C86682-4FE0-E256-A2A4-AF4EB32D3D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980" y="2449706"/>
            <a:ext cx="3825240" cy="3599315"/>
          </a:xfrm>
          <a:prstGeom prst="rect">
            <a:avLst/>
          </a:prstGeom>
          <a:effectLst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1733450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D88C8-2347-82D7-2CB1-F00A1396B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921D0-FDCC-B19C-CA8D-DB236A6FA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Excel Dashboard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7F41DCF-3172-5D5C-CD3F-08E4623E0D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68" y="2081207"/>
            <a:ext cx="11981468" cy="4677811"/>
          </a:xfrm>
        </p:spPr>
      </p:pic>
    </p:spTree>
    <p:extLst>
      <p:ext uri="{BB962C8B-B14F-4D97-AF65-F5344CB8AC3E}">
        <p14:creationId xmlns:p14="http://schemas.microsoft.com/office/powerpoint/2010/main" val="2533422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8A90A-6DBB-D111-9E6C-916209A60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Power BI Dashboard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8555D1-E262-805F-FB9B-F06E652C1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950B4B-F784-E6B1-5BEF-4A53BB843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36" y="2047009"/>
            <a:ext cx="12032673" cy="471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69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C60C6-39C3-30B9-21BA-8989411F3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7D96A-A507-F669-4ECC-9EBB87B82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Tableau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7F0204-14F7-4CA8-B081-F0F486DA39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41" y="2045616"/>
            <a:ext cx="12009750" cy="4703976"/>
          </a:xfrm>
        </p:spPr>
      </p:pic>
    </p:spTree>
    <p:extLst>
      <p:ext uri="{BB962C8B-B14F-4D97-AF65-F5344CB8AC3E}">
        <p14:creationId xmlns:p14="http://schemas.microsoft.com/office/powerpoint/2010/main" val="2862223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BF861-B90D-495D-055D-16FDA7F10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Inventory and Product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A596C-FF1F-6E69-9128-AD130416A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6438233" cy="3599316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 Bikes category contributes the highest share of total sales and overall product demand across all regions.</a:t>
            </a:r>
          </a:p>
          <a:p>
            <a:pPr>
              <a:lnSpc>
                <a:spcPct val="150000"/>
              </a:lnSpc>
            </a:pPr>
            <a:r>
              <a:rPr lang="en-US" dirty="0"/>
              <a:t>The Mountain-200 series stands out as the top-performing product line, generating the highest revenue among individual products.</a:t>
            </a:r>
          </a:p>
          <a:p>
            <a:pPr>
              <a:lnSpc>
                <a:spcPct val="150000"/>
              </a:lnSpc>
            </a:pPr>
            <a:r>
              <a:rPr lang="en-US" dirty="0"/>
              <a:t>Accessories category delivers strong profit margins even with comparatively lower sales volume.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E2FF70-6480-6597-4333-50D143808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806" y="2477729"/>
            <a:ext cx="3645873" cy="3599315"/>
          </a:xfrm>
          <a:prstGeom prst="rect">
            <a:avLst/>
          </a:prstGeom>
          <a:effectLst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192015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EEC17-F179-1481-77AC-F34685BCA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0FBF5-BEF3-7B83-DEEC-8DF9F9A84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Excel Dashboard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38B3DD8-F50C-6A67-106D-B620BD184A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42" y="2092752"/>
            <a:ext cx="11990894" cy="4656840"/>
          </a:xfrm>
        </p:spPr>
      </p:pic>
    </p:spTree>
    <p:extLst>
      <p:ext uri="{BB962C8B-B14F-4D97-AF65-F5344CB8AC3E}">
        <p14:creationId xmlns:p14="http://schemas.microsoft.com/office/powerpoint/2010/main" val="1792214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A30EA-14AE-CB3D-63FD-A1D8B4593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5156-E3B0-2A1E-D0BD-16D55B778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Power BI Dashboard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DF53CB-765D-3228-1228-33CF8A96E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316DAF-F589-F999-FA25-DC6B1D8E7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09" y="2067790"/>
            <a:ext cx="12001499" cy="469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186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4A913-754E-593E-7F45-4B090455E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727F1-EB52-0E21-2237-B40DB7573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Tableau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3CF4A6-41DB-505E-9025-70EB146DF8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41" y="2036190"/>
            <a:ext cx="12009750" cy="4732255"/>
          </a:xfrm>
        </p:spPr>
      </p:pic>
    </p:spTree>
    <p:extLst>
      <p:ext uri="{BB962C8B-B14F-4D97-AF65-F5344CB8AC3E}">
        <p14:creationId xmlns:p14="http://schemas.microsoft.com/office/powerpoint/2010/main" val="874270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0E1D9-0D3B-2DC5-5395-4A06E6F52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Structured Query Language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8BFE4-A1F2-B817-7DE1-F1457B21F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347" y="2297544"/>
            <a:ext cx="7647601" cy="359931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Used Joins to combine sales, customer and product tables for analysis.</a:t>
            </a:r>
          </a:p>
          <a:p>
            <a:pPr>
              <a:lnSpc>
                <a:spcPct val="110000"/>
              </a:lnSpc>
            </a:pPr>
            <a:r>
              <a:rPr lang="en-US" dirty="0"/>
              <a:t>Applied Aggregate Functions like SUM, COUNT and AVG to calculate key metrics.</a:t>
            </a:r>
          </a:p>
          <a:p>
            <a:pPr>
              <a:lnSpc>
                <a:spcPct val="110000"/>
              </a:lnSpc>
            </a:pPr>
            <a:r>
              <a:rPr lang="en-US" dirty="0"/>
              <a:t>Implemented Filters &amp; Conditions (WHERE, GROUP BY, HAVING) for data segmentation.</a:t>
            </a:r>
          </a:p>
          <a:p>
            <a:pPr>
              <a:lnSpc>
                <a:spcPct val="110000"/>
              </a:lnSpc>
            </a:pPr>
            <a:r>
              <a:rPr lang="en-US" dirty="0"/>
              <a:t>Used Subqueries to derive insights like </a:t>
            </a:r>
            <a:r>
              <a:rPr lang="en-IN" dirty="0"/>
              <a:t>Sales Performance Analysis, Customer Behaviour Insights, Inventory and Product Analysis, Operational Efficiency</a:t>
            </a:r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708D76-0802-D552-1557-B3B97C3085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9432" y="2428568"/>
            <a:ext cx="3578942" cy="3301143"/>
          </a:xfrm>
          <a:prstGeom prst="rect">
            <a:avLst/>
          </a:prstGeom>
          <a:effectLst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10669409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6F1D2-1450-E65C-0529-CFBE3163F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F7A63-5FA0-1FB1-333A-9618C8472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Structured Query Language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5856A7B-675F-154F-4BC7-991FFBD8B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Total Sales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Total Profit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Profit Margin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7BDEE2-B2F5-365D-3B47-EB73DE475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028" y="2728632"/>
            <a:ext cx="1522297" cy="5936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F2F5A66-1BF9-7058-49A6-89D1407C2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165" y="2800997"/>
            <a:ext cx="1489015" cy="6073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C89C423-AA7B-3767-863D-9482519FA8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3872" y="2423806"/>
            <a:ext cx="3414056" cy="30482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5628357-CDA8-EC78-E995-387F5A84B1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029" y="4136531"/>
            <a:ext cx="1386540" cy="63644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D4DFD92-4913-F9BF-C483-E3CA02FEE2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2923" y="3794544"/>
            <a:ext cx="3375953" cy="28196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FC513FB-F3E2-594F-97FC-76ADEF3779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3985" y="4136531"/>
            <a:ext cx="1234824" cy="65435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E23D99A-E58C-BEE5-CD70-9ECB3B607A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027" y="5528499"/>
            <a:ext cx="1370745" cy="59362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DAC6B22-6716-D12B-AC13-DAF3574D9D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03872" y="5142419"/>
            <a:ext cx="3588617" cy="28196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BF3B49C-B1D3-1AAA-3948-890B8667E4A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83984" y="5503175"/>
            <a:ext cx="1370744" cy="6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3411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4FACD-68D6-F1ED-629C-E9A898B01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0A512-8BD8-DDCE-C037-7BB738D39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Structured Query Language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15BD82-5144-4178-5AD8-9476487BE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Total Orders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Total Customers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Repeat Customers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FD00EA-436E-C749-35D7-9E9046ACD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32" y="2779461"/>
            <a:ext cx="1386540" cy="5936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19BFFC-DC7F-A37D-A934-9930635B2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2923" y="2449461"/>
            <a:ext cx="3778124" cy="2791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ACE2AA-30B3-0EBE-D3F3-A79E591E78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0327" y="2758858"/>
            <a:ext cx="1263855" cy="5936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3768FF2-1C1D-EBDA-348E-5331E00107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232" y="4136530"/>
            <a:ext cx="1477977" cy="73680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644B0BC-7239-49E2-D62B-520B18E00C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2922" y="3809784"/>
            <a:ext cx="3637693" cy="27917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5CD3FDA-5E9D-A241-3AB7-EB7262E064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0327" y="4136529"/>
            <a:ext cx="1558493" cy="62538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9A4DEFE-F92C-BB05-FA4C-724EB0F8F6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6232" y="5433224"/>
            <a:ext cx="1477977" cy="671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6401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5C94D-7824-FA1C-8F32-C1FAC8CCE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209026"/>
          </a:xfrm>
        </p:spPr>
        <p:txBody>
          <a:bodyPr/>
          <a:lstStyle/>
          <a:p>
            <a:pPr algn="ctr"/>
            <a:r>
              <a:rPr lang="en-IN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888390959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239</TotalTime>
  <Words>535</Words>
  <Application>Microsoft Office PowerPoint</Application>
  <PresentationFormat>Widescreen</PresentationFormat>
  <Paragraphs>87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Trebuchet MS</vt:lpstr>
      <vt:lpstr>Berlin</vt:lpstr>
      <vt:lpstr>Adventure Works</vt:lpstr>
      <vt:lpstr>About the Company</vt:lpstr>
      <vt:lpstr>Business Problem &amp; Project Objective</vt:lpstr>
      <vt:lpstr>Technical Skills</vt:lpstr>
      <vt:lpstr>Team Collaboration, Communication,  Key Learnings, Planning &amp; Execution</vt:lpstr>
      <vt:lpstr>Sales Performance Analysis </vt:lpstr>
      <vt:lpstr>Excel Dashboard</vt:lpstr>
      <vt:lpstr>Power BI Dashboard</vt:lpstr>
      <vt:lpstr>Tableau Dashboard</vt:lpstr>
      <vt:lpstr>Customer Behaviour Insights</vt:lpstr>
      <vt:lpstr>Excel Dashboard</vt:lpstr>
      <vt:lpstr>Power BI Dashboard</vt:lpstr>
      <vt:lpstr>Tableau Dashboard</vt:lpstr>
      <vt:lpstr>Inventory and Product Analysis</vt:lpstr>
      <vt:lpstr>Excel Dashboard</vt:lpstr>
      <vt:lpstr>Power BI Dashboard</vt:lpstr>
      <vt:lpstr>Tableau Dashboard</vt:lpstr>
      <vt:lpstr>Structured Query Language</vt:lpstr>
      <vt:lpstr>Structured Query Language</vt:lpstr>
      <vt:lpstr>Structured Query Language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Makrand Chavan</dc:creator>
  <cp:lastModifiedBy>aditya patel</cp:lastModifiedBy>
  <cp:revision>9</cp:revision>
  <dcterms:created xsi:type="dcterms:W3CDTF">2026-02-28T17:24:16Z</dcterms:created>
  <dcterms:modified xsi:type="dcterms:W3CDTF">2026-03-02T13:10:35Z</dcterms:modified>
</cp:coreProperties>
</file>